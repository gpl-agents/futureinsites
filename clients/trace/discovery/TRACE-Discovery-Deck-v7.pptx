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Manrope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CqWcY+Lvofl5G9+gBdtParOb0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font" Target="fonts/Inter-regular.fntdata"/><Relationship Id="rId18" Type="http://schemas.openxmlformats.org/officeDocument/2006/relationships/font" Target="fonts/Inter-bold.fntdata"/><Relationship Id="rId19" Type="http://schemas.openxmlformats.org/officeDocument/2006/relationships/font" Target="fonts/Inter-italic.fntdata"/><Relationship Id="rId20" Type="http://schemas.openxmlformats.org/officeDocument/2006/relationships/font" Target="fonts/Inter-boldItalic.fntdata"/><Relationship Id="rId21" Type="http://schemas.openxmlformats.org/officeDocument/2006/relationships/font" Target="fonts/Manrope-regular.fntdata"/><Relationship Id="rId22" Type="http://schemas.openxmlformats.org/officeDocument/2006/relationships/font" Target="fonts/Manrope-bold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ckup-transparent.png" id="16" name="Google Shape;1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661" y="213573"/>
            <a:ext cx="2862074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926080" y="188366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DISCOVERY DECK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30428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nrope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TRACE Services x FutureInSites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554480" y="3218688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BBC6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B6BBC6"/>
                </a:solidFill>
                <a:latin typeface="Inter"/>
                <a:ea typeface="Inter"/>
                <a:cs typeface="Inter"/>
                <a:sym typeface="Inter"/>
              </a:rPr>
              <a:t>Turning AI uncertainty into business advantage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accelerated Build • Customize • Train approach for practical AI adoption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468880" y="44348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8290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7C8290"/>
                </a:solidFill>
                <a:latin typeface="Inter"/>
                <a:ea typeface="Inter"/>
                <a:cs typeface="Inter"/>
                <a:sym typeface="Inter"/>
              </a:rPr>
              <a:t>June 10, 2026 | Prepared for TRACE Services Co.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THE MOMENT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AI Is Now an Enterprise Imperative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691640"/>
            <a:ext cx="8138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Capability, adoption, and investment in AI are compounding faster than most operating models can adapt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10x capability jumps feel sudden when they arrive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Every function in an MEP firm, estimating, field ops, project management, energy services, now has AI-native tools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The constraint is no longer technology; it is organizational absorption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The AI question has shifted from "Should we try it?" to "How do we capture value safely and quickly?"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s-logo-transparent-200.png" id="28" name="Google Shape;28;p2"/>
          <p:cNvSpPr/>
          <p:nvPr/>
        </p:nvSpPr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29" name="Google Shape;29;p2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YOUR INDUSTRY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Most MEP Firms Have AI Activity, Not AI Strategy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57200" y="1691640"/>
            <a:ext cx="8138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The problem is not lack of interest. It is fragmented effort without an operating model.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Scattered pilots. Teams test tools independently with little coordination or reuse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Tool sprawl. New subscriptions appear faster than governance or integration logic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Unclear ownership. Estimating, field ops, IT, and leadership lack shared decision rights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Weak ROI measures. Success is described as excitement, not time saved or value created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Pilot purgatory. Promising ideas fail to scale because workflow change is not designed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s-logo-transparent-200.png" id="38" name="Google Shape;38;p3"/>
          <p:cNvSpPr/>
          <p:nvPr/>
        </p:nvSpPr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39" name="Google Shape;39;p3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YOUR COMPANY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What We Know About TRACE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691640"/>
            <a:ext cx="8138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Leading MEP contractor: HVAC, Electrical, Plumbing, Process Piping, Design-Build, Energy Services, Controls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Memphis and Jackson, TN. Projects spanning Tennessee and Mississippi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Leadership team with a collective century of field experience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B0C10"/>
              </a:buClr>
              <a:buSzPts val="1350"/>
              <a:buFont typeface="Inter"/>
              <a:buChar char="•"/>
            </a:pPr>
            <a:r>
              <a:rPr lang="en-US" sz="13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Referred by SitelogIQ (Russ Phillips, Blair Perry). Trusted partners for program-level MEP delivery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s-logo-transparent-200.png" id="48" name="Google Shape;48;p4"/>
          <p:cNvSpPr/>
          <p:nvPr/>
        </p:nvSpPr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49" name="Google Shape;49;p4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HOW WE WORK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Our Methodology: Build • Customize • Train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1645920"/>
            <a:ext cx="2670048" cy="2606040"/>
          </a:xfrm>
          <a:prstGeom prst="roundRect">
            <a:avLst>
              <a:gd fmla="val 2456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58368" y="186537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58368" y="1865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188720" y="190195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400"/>
              <a:buFont typeface="Inter"/>
              <a:buNone/>
            </a:pPr>
            <a:r>
              <a:rPr b="1" lang="en-US" sz="14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Build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58368" y="2487168"/>
            <a:ext cx="22677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Create the AI opportunity map, business case logic, and initial roadmap|Start with TRACE leadership priorities and business 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Key activity or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Key activity or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310128" y="1645920"/>
            <a:ext cx="2670048" cy="2606040"/>
          </a:xfrm>
          <a:prstGeom prst="roundRect">
            <a:avLst>
              <a:gd fmla="val 2456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511296" y="186537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511296" y="1865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041648" y="190195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400"/>
              <a:buFont typeface="Inter"/>
              <a:buNone/>
            </a:pPr>
            <a:r>
              <a:rPr b="1" lang="en-US" sz="14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Customize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511296" y="2487168"/>
            <a:ext cx="22677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Tailor use cases, governance, vendors, and workflows|Adapted to TRACE-specific data, project types, and field operations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Key activity or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Key activity or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163056" y="1645920"/>
            <a:ext cx="2670048" cy="2606040"/>
          </a:xfrm>
          <a:prstGeom prst="roundRect">
            <a:avLst>
              <a:gd fmla="val 2456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364224" y="186537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364224" y="1865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nrope"/>
              <a:buNone/>
            </a:pPr>
            <a:r>
              <a:rPr b="1" lang="en-US" sz="15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94576" y="1901952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400"/>
              <a:buFont typeface="Inter"/>
              <a:buNone/>
            </a:pPr>
            <a:r>
              <a:rPr b="1" lang="en-US" sz="14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Train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364224" y="2487168"/>
            <a:ext cx="22677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Enable leaders and teams with practical tools and playbooks|Transfer ownership so the capability sticks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Key activity or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B0C10"/>
              </a:buClr>
              <a:buSzPts val="1100"/>
              <a:buFont typeface="Inter"/>
              <a:buChar char="•"/>
            </a:pPr>
            <a:r>
              <a:rPr lang="en-US" sz="11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Key activity or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s-logo-transparent-200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THE PROCESS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The Three-Day BCT Workshop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6"/>
          <p:cNvCxnSpPr/>
          <p:nvPr/>
        </p:nvCxnSpPr>
        <p:spPr>
          <a:xfrm>
            <a:off x="1014984" y="2587752"/>
            <a:ext cx="6501384" cy="0"/>
          </a:xfrm>
          <a:prstGeom prst="straightConnector1">
            <a:avLst/>
          </a:prstGeom>
          <a:noFill/>
          <a:ln cap="flat" cmpd="sng" w="254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6"/>
          <p:cNvSpPr/>
          <p:nvPr/>
        </p:nvSpPr>
        <p:spPr>
          <a:xfrm>
            <a:off x="822960" y="2395728"/>
            <a:ext cx="384048" cy="384048"/>
          </a:xfrm>
          <a:prstGeom prst="ellipse">
            <a:avLst/>
          </a:prstGeom>
          <a:solidFill>
            <a:srgbClr val="2D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22960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20040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Pre-work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20040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1-2 weeks before | Leadership interviews, AI usage inventory, business priorities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990088" y="23957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990088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487168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Day 1: Build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487168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 landscape briefing | Use-case ideation | Value hypothesis tied to TRACE operations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157216" y="23957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157216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54296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Day 2: Customize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654296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Prioritization matrix | Workflow redesign for MEP | Governance guardrails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324344" y="23957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324344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821424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Day 3: Train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821424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Hands-on enablement | 30/60/90-day roadmap | Owner and action alignment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s-logo-transparent-200.png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AI OPPORTUNITY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Where AI Could Create Value for TRACE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1645920"/>
            <a:ext cx="2670048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21792" y="17739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Estimating &amp; Bids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21792" y="2066544"/>
            <a:ext cx="2340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AI-assisted takeoffs, scope analysis, and faster, more accurate bids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310128" y="1645920"/>
            <a:ext cx="2670048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474720" y="17739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Field Service &amp; Work Orders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474720" y="2066544"/>
            <a:ext cx="2340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AI-assisted triage, routing, and real-time documentation for field crews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163056" y="1645920"/>
            <a:ext cx="2670048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327648" y="17739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Project Documentation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327648" y="2066544"/>
            <a:ext cx="2340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Auto-generate RFIs, submittals, and compliance records from the field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3035808"/>
            <a:ext cx="2670048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1792" y="3163824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Energy Services Optimization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21792" y="3456432"/>
            <a:ext cx="2340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 analysis of building performance data for efficiency insights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310128" y="3035808"/>
            <a:ext cx="2670048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474720" y="3163824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Controls &amp; Building Automation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474720" y="3456432"/>
            <a:ext cx="2340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Intelligent monitoring and predictive maintenance from site data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163056" y="3035808"/>
            <a:ext cx="2670048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327648" y="3163824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50"/>
              <a:buFont typeface="Inter"/>
              <a:buNone/>
            </a:pPr>
            <a:r>
              <a:rPr b="1" lang="en-US" sz="125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Workforce Knowledge Capture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327648" y="3456432"/>
            <a:ext cx="2340864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Decades of technician expertise turned into searchable, trainable assets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s-logo-transparent-200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THE OUTPUT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What TRACE Walks Away With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111556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deliverable is not inspiration. It is a decision-ready AI action plan.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1645920"/>
            <a:ext cx="58521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AI Opportunity Map. Where AI can create value across TRACE operations and workflows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Prioritized Use-Case Portfolio. Ranked by business value, feasibility, data readiness, and risk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Governance Guardrails. Practical policies and decision rights for safe adoption from day 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Workflow &amp; Tool Playbooks. Concrete examples, prompts, vendor options, and process changes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30/60/90-Day Roadmap. Owners, milestones, pilot candidates, and measurement logic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Executive Readout. Leadership-ready summary of priorities and next steps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629400" y="1645920"/>
            <a:ext cx="2057400" cy="2377440"/>
          </a:xfrm>
          <a:prstGeom prst="roundRect">
            <a:avLst>
              <a:gd fmla="val 3111" name="adj"/>
            </a:avLst>
          </a:prstGeom>
          <a:solidFill>
            <a:srgbClr val="F8F9FB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858000" y="1828800"/>
            <a:ext cx="1600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Six concrete deliverables. Not a generic report. Each one decision-ready for TRACE leadership.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s-logo-transparent-200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WHO WE ARE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150" name="Google Shape;150;p9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Why FutureInSites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111556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Senior operators, strategists, and researchers helping leaders make AI practical.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7200" y="1645920"/>
            <a:ext cx="58521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Operator experience. We have led real digital, data, product, and transformation teams at scale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Industry depth. MEP/construction, retail, manufacturing, healthcare, energy, and finance context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Research rigor. Academic and market intelligence discipline, not generic AI hype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Execution bias. Engagements produce roadmaps, owners, and next steps, not shelfware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Executive fluency. We translate AI into strategy, risk, economics, and operating model decisions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Independent perspective. We help clients choose the right tools without being tied to one vendor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629400" y="1645920"/>
            <a:ext cx="2057400" cy="2377440"/>
          </a:xfrm>
          <a:prstGeom prst="roundRect">
            <a:avLst>
              <a:gd fmla="val 3111" name="adj"/>
            </a:avLst>
          </a:prstGeom>
          <a:solidFill>
            <a:srgbClr val="F8F9FB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858000" y="1828800"/>
            <a:ext cx="1600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Combined: 75+ years of transformation leadership across MEP, healthcare, retail, and manufacturing.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s-logo-transparent-200.png" id="155" name="Google Shape;155;p9"/>
          <p:cNvSpPr/>
          <p:nvPr/>
        </p:nvSpPr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9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THE PATH FORWARD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How We Start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57200" y="111556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Start with the right level of commitment, then scale as the opportunity becomes clear.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57200" y="1645920"/>
            <a:ext cx="58521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Discovery call. Align on business priorities, constraints, and decision-makers (today)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Two discovery sessions. Map current workflows, tools, and bottlenecks in depth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BCT workshop. Build, Customize, and Train around TRACE highest-value opportunities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Roadmap readout. Align on pilot candidates, owners, governance, and success metrics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629400" y="1645920"/>
            <a:ext cx="2057400" cy="2377440"/>
          </a:xfrm>
          <a:prstGeom prst="roundRect">
            <a:avLst>
              <a:gd fmla="val 3111" name="adj"/>
            </a:avLst>
          </a:prstGeom>
          <a:solidFill>
            <a:srgbClr val="F8F9FB"/>
          </a:solidFill>
          <a:ln cap="flat" cmpd="sng" w="127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858000" y="1828800"/>
            <a:ext cx="1600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BCT workshop moves from uncertainty to an actionable roadmap in days, not months.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s-logo-transparent-200.png" id="168" name="Google Shape;168;p10"/>
          <p:cNvSpPr/>
          <p:nvPr/>
        </p:nvSpPr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sp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169" name="Google Shape;169;p10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WHAT COMES NEXT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2700"/>
              <a:buFont typeface="Manrope"/>
              <a:buNone/>
            </a:pPr>
            <a:r>
              <a:rPr b="1" lang="en-US" sz="27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Next Steps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1"/>
          <p:cNvCxnSpPr/>
          <p:nvPr/>
        </p:nvCxnSpPr>
        <p:spPr>
          <a:xfrm>
            <a:off x="1014984" y="2587752"/>
            <a:ext cx="6501384" cy="0"/>
          </a:xfrm>
          <a:prstGeom prst="straightConnector1">
            <a:avLst/>
          </a:prstGeom>
          <a:noFill/>
          <a:ln cap="flat" cmpd="sng" w="25400">
            <a:solidFill>
              <a:srgbClr val="E4E7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1"/>
          <p:cNvSpPr/>
          <p:nvPr/>
        </p:nvSpPr>
        <p:spPr>
          <a:xfrm>
            <a:off x="822960" y="2395728"/>
            <a:ext cx="384048" cy="384048"/>
          </a:xfrm>
          <a:prstGeom prst="ellipse">
            <a:avLst/>
          </a:prstGeom>
          <a:solidFill>
            <a:srgbClr val="2DD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22960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0B0C10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20040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Today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320040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Discovery deck prepared; teams introduced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2990088" y="23957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2990088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2487168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June 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2487168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Intro call. Introductions, AI briefing, TRACE priorities (4:00-4:30 PM ET)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5157216" y="23957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157216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654296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Discovery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654296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Two dedicated sessions to map workflows and identify AI opportunities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7324344" y="23957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7324344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lang="en-US" sz="13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821424" y="29626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0C1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B0C10"/>
                </a:solidFill>
                <a:latin typeface="Inter"/>
                <a:ea typeface="Inter"/>
                <a:cs typeface="Inter"/>
                <a:sym typeface="Inter"/>
              </a:rPr>
              <a:t>BCT Workshop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821424" y="32552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Three-day Build . Customize . Train workshop on highest-impact use cases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s-logo-transparent-200.png" id="194" name="Google Shape;194;p11"/>
          <p:cNvSpPr/>
          <p:nvPr/>
        </p:nvSpPr>
        <p:spPr>
          <a:xfrm>
            <a:off x="457200" y="4759452"/>
            <a:ext cx="219456" cy="219456"/>
          </a:xfrm>
          <a:prstGeom prst="rect">
            <a:avLst/>
          </a:prstGeom>
          <a:noFill/>
          <a:ln>
            <a:noFill/>
          </a:ln>
        </p:spPr>
      </p:sp>
      <p:pic>
        <p:nvPicPr>
          <p:cNvPr id="197" name="Picture 19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9452"/>
            <a:ext cx="219456" cy="219456"/>
          </a:xfrm>
          <a:prstGeom prst="rect">
            <a:avLst/>
          </a:prstGeom>
        </p:spPr>
      </p:pic>
      <p:sp>
        <p:nvSpPr>
          <p:cNvPr id="195" name="Google Shape;195;p11"/>
          <p:cNvSpPr/>
          <p:nvPr/>
        </p:nvSpPr>
        <p:spPr>
          <a:xfrm>
            <a:off x="749808" y="47228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futureinsites.com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8366760" y="47228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ckup-transparent.png" id="202" name="Google Shape;2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56" y="1298448"/>
            <a:ext cx="230428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nrope"/>
              <a:buNone/>
            </a:pPr>
            <a:r>
              <a:rPr b="1" lang="en-US" sz="32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Ready to explore where AI can make the biggest difference for TRACE?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2011680" y="32004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FF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2DD4FF"/>
                </a:solidFill>
                <a:latin typeface="Inter"/>
                <a:ea typeface="Inter"/>
                <a:cs typeface="Inter"/>
                <a:sym typeface="Inter"/>
              </a:rPr>
              <a:t>strategy@futureinsites.com | futureinsites.com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2926080" y="44348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8290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7C8290"/>
                </a:solidFill>
                <a:latin typeface="Inter"/>
                <a:ea typeface="Inter"/>
                <a:cs typeface="Inter"/>
                <a:sym typeface="Inter"/>
              </a:rPr>
              <a:t>AI Strategy &amp; Engineering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2026-06-05T15:46:49Z</dcterms:created>
  <dc:creator>FutureInSites</dc:creator>
</cp:coreProperties>
</file>